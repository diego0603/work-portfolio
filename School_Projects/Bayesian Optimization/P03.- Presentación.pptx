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azydog" charset="1" panose="00000000000000000000"/>
      <p:regular r:id="rId18"/>
    </p:embeddedFont>
    <p:embeddedFont>
      <p:font typeface="Klein" charset="1" panose="0200050306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9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9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9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.png" Type="http://schemas.openxmlformats.org/officeDocument/2006/relationships/image"/><Relationship Id="rId8" Target="../media/image9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9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9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.pn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16658" y="112183"/>
            <a:ext cx="10454684" cy="10062633"/>
          </a:xfrm>
          <a:custGeom>
            <a:avLst/>
            <a:gdLst/>
            <a:ahLst/>
            <a:cxnLst/>
            <a:rect r="r" b="b" t="t" l="l"/>
            <a:pathLst>
              <a:path h="10062633" w="10454684">
                <a:moveTo>
                  <a:pt x="0" y="0"/>
                </a:moveTo>
                <a:lnTo>
                  <a:pt x="10454684" y="0"/>
                </a:lnTo>
                <a:lnTo>
                  <a:pt x="10454684" y="10062634"/>
                </a:lnTo>
                <a:lnTo>
                  <a:pt x="0" y="100626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27828" y="7346882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7" y="0"/>
                </a:lnTo>
                <a:lnTo>
                  <a:pt x="58630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24530">
            <a:off x="-1050153" y="-907951"/>
            <a:ext cx="3532220" cy="5250597"/>
          </a:xfrm>
          <a:custGeom>
            <a:avLst/>
            <a:gdLst/>
            <a:ahLst/>
            <a:cxnLst/>
            <a:rect r="r" b="b" t="t" l="l"/>
            <a:pathLst>
              <a:path h="5250597" w="3532220">
                <a:moveTo>
                  <a:pt x="0" y="0"/>
                </a:moveTo>
                <a:lnTo>
                  <a:pt x="3532220" y="0"/>
                </a:lnTo>
                <a:lnTo>
                  <a:pt x="3532220" y="5250596"/>
                </a:lnTo>
                <a:lnTo>
                  <a:pt x="0" y="52505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8259" y="7770606"/>
            <a:ext cx="2453917" cy="4114800"/>
          </a:xfrm>
          <a:custGeom>
            <a:avLst/>
            <a:gdLst/>
            <a:ahLst/>
            <a:cxnLst/>
            <a:rect r="r" b="b" t="t" l="l"/>
            <a:pathLst>
              <a:path h="4114800" w="2453917">
                <a:moveTo>
                  <a:pt x="0" y="0"/>
                </a:moveTo>
                <a:lnTo>
                  <a:pt x="2453918" y="0"/>
                </a:lnTo>
                <a:lnTo>
                  <a:pt x="24539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09667" y="1507797"/>
            <a:ext cx="15268665" cy="5588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90"/>
              </a:lnSpc>
            </a:pPr>
            <a:r>
              <a:rPr lang="en-US" sz="10635">
                <a:solidFill>
                  <a:srgbClr val="223022"/>
                </a:solidFill>
                <a:latin typeface="Lazydog"/>
                <a:ea typeface="Lazydog"/>
                <a:cs typeface="Lazydog"/>
                <a:sym typeface="Lazydog"/>
              </a:rPr>
              <a:t>oPTIMIZACIÓN BAYESIANA EN PÉLICULAS DELGADAS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864332" y="0"/>
            <a:ext cx="5423668" cy="1566084"/>
          </a:xfrm>
          <a:custGeom>
            <a:avLst/>
            <a:gdLst/>
            <a:ahLst/>
            <a:cxnLst/>
            <a:rect r="r" b="b" t="t" l="l"/>
            <a:pathLst>
              <a:path h="1566084" w="5423668">
                <a:moveTo>
                  <a:pt x="0" y="0"/>
                </a:moveTo>
                <a:lnTo>
                  <a:pt x="5423668" y="0"/>
                </a:lnTo>
                <a:lnTo>
                  <a:pt x="5423668" y="1566084"/>
                </a:lnTo>
                <a:lnTo>
                  <a:pt x="0" y="15660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6076" y="8757602"/>
            <a:ext cx="12255848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223022"/>
                </a:solidFill>
                <a:latin typeface="Klein"/>
                <a:ea typeface="Klein"/>
                <a:cs typeface="Klein"/>
                <a:sym typeface="Klein"/>
              </a:rPr>
              <a:t>Diego Yael Islas Santoyo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50983" y="7770606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7" y="0"/>
                </a:lnTo>
                <a:lnTo>
                  <a:pt x="58630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8722272">
            <a:off x="15493190" y="-645632"/>
            <a:ext cx="3532220" cy="5250597"/>
          </a:xfrm>
          <a:custGeom>
            <a:avLst/>
            <a:gdLst/>
            <a:ahLst/>
            <a:cxnLst/>
            <a:rect r="r" b="b" t="t" l="l"/>
            <a:pathLst>
              <a:path h="5250597" w="3532220">
                <a:moveTo>
                  <a:pt x="3532220" y="0"/>
                </a:moveTo>
                <a:lnTo>
                  <a:pt x="0" y="0"/>
                </a:lnTo>
                <a:lnTo>
                  <a:pt x="0" y="5250596"/>
                </a:lnTo>
                <a:lnTo>
                  <a:pt x="3532220" y="5250596"/>
                </a:lnTo>
                <a:lnTo>
                  <a:pt x="353222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259300" y="9258300"/>
            <a:ext cx="3056701" cy="5125565"/>
          </a:xfrm>
          <a:custGeom>
            <a:avLst/>
            <a:gdLst/>
            <a:ahLst/>
            <a:cxnLst/>
            <a:rect r="r" b="b" t="t" l="l"/>
            <a:pathLst>
              <a:path h="5125565" w="3056701">
                <a:moveTo>
                  <a:pt x="3056701" y="0"/>
                </a:moveTo>
                <a:lnTo>
                  <a:pt x="0" y="0"/>
                </a:lnTo>
                <a:lnTo>
                  <a:pt x="0" y="5125565"/>
                </a:lnTo>
                <a:lnTo>
                  <a:pt x="3056701" y="5125565"/>
                </a:lnTo>
                <a:lnTo>
                  <a:pt x="305670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2439" y="7665831"/>
            <a:ext cx="4142768" cy="182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223022"/>
                </a:solidFill>
                <a:latin typeface="Klein"/>
                <a:ea typeface="Klein"/>
                <a:cs typeface="Klein"/>
                <a:sym typeface="Klein"/>
              </a:rPr>
              <a:t>Objetivos generales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3598583" y="7923006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7" y="0"/>
                </a:lnTo>
                <a:lnTo>
                  <a:pt x="58630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885825"/>
            <a:ext cx="152686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3D593D"/>
                </a:solidFill>
                <a:latin typeface="Lazydog"/>
                <a:ea typeface="Lazydog"/>
                <a:cs typeface="Lazydog"/>
                <a:sym typeface="Lazydog"/>
              </a:rPr>
              <a:t>Introducción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864332" y="0"/>
            <a:ext cx="5423668" cy="1566084"/>
          </a:xfrm>
          <a:custGeom>
            <a:avLst/>
            <a:gdLst/>
            <a:ahLst/>
            <a:cxnLst/>
            <a:rect r="r" b="b" t="t" l="l"/>
            <a:pathLst>
              <a:path h="1566084" w="5423668">
                <a:moveTo>
                  <a:pt x="0" y="0"/>
                </a:moveTo>
                <a:lnTo>
                  <a:pt x="5423668" y="0"/>
                </a:lnTo>
                <a:lnTo>
                  <a:pt x="5423668" y="1566084"/>
                </a:lnTo>
                <a:lnTo>
                  <a:pt x="0" y="15660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925235" y="3086100"/>
            <a:ext cx="4437529" cy="4114800"/>
          </a:xfrm>
          <a:custGeom>
            <a:avLst/>
            <a:gdLst/>
            <a:ahLst/>
            <a:cxnLst/>
            <a:rect r="r" b="b" t="t" l="l"/>
            <a:pathLst>
              <a:path h="4114800" w="4437529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782405" y="2846510"/>
            <a:ext cx="3725764" cy="4114800"/>
          </a:xfrm>
          <a:custGeom>
            <a:avLst/>
            <a:gdLst/>
            <a:ahLst/>
            <a:cxnLst/>
            <a:rect r="r" b="b" t="t" l="l"/>
            <a:pathLst>
              <a:path h="4114800" w="3725764">
                <a:moveTo>
                  <a:pt x="0" y="0"/>
                </a:moveTo>
                <a:lnTo>
                  <a:pt x="3725764" y="0"/>
                </a:lnTo>
                <a:lnTo>
                  <a:pt x="37257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324820" y="7665831"/>
            <a:ext cx="4142768" cy="182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223022"/>
                </a:solidFill>
                <a:latin typeface="Klein"/>
                <a:ea typeface="Klein"/>
                <a:cs typeface="Klein"/>
                <a:sym typeface="Klein"/>
              </a:rPr>
              <a:t>Objetivos específicos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37201" y="7684881"/>
            <a:ext cx="4142768" cy="1522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94"/>
              </a:lnSpc>
            </a:pPr>
            <a:r>
              <a:rPr lang="en-US" sz="4353">
                <a:solidFill>
                  <a:srgbClr val="223022"/>
                </a:solidFill>
                <a:latin typeface="Klein"/>
                <a:ea typeface="Klein"/>
                <a:cs typeface="Klein"/>
                <a:sym typeface="Klein"/>
              </a:rPr>
              <a:t>Evaluación de resultados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945466">
            <a:off x="-314661" y="6721830"/>
            <a:ext cx="2686721" cy="3993775"/>
          </a:xfrm>
          <a:custGeom>
            <a:avLst/>
            <a:gdLst/>
            <a:ahLst/>
            <a:cxnLst/>
            <a:rect r="r" b="b" t="t" l="l"/>
            <a:pathLst>
              <a:path h="3993775" w="2686721">
                <a:moveTo>
                  <a:pt x="0" y="0"/>
                </a:moveTo>
                <a:lnTo>
                  <a:pt x="2686722" y="0"/>
                </a:lnTo>
                <a:lnTo>
                  <a:pt x="2686722" y="3993776"/>
                </a:lnTo>
                <a:lnTo>
                  <a:pt x="0" y="399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2573479"/>
            <a:ext cx="10276151" cy="7104070"/>
            <a:chOff x="0" y="0"/>
            <a:chExt cx="2706476" cy="18710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6476" cy="1871031"/>
            </a:xfrm>
            <a:custGeom>
              <a:avLst/>
              <a:gdLst/>
              <a:ahLst/>
              <a:cxnLst/>
              <a:rect r="r" b="b" t="t" l="l"/>
              <a:pathLst>
                <a:path h="1871031" w="2706476">
                  <a:moveTo>
                    <a:pt x="0" y="0"/>
                  </a:moveTo>
                  <a:lnTo>
                    <a:pt x="2706476" y="0"/>
                  </a:lnTo>
                  <a:lnTo>
                    <a:pt x="2706476" y="1871031"/>
                  </a:lnTo>
                  <a:lnTo>
                    <a:pt x="0" y="1871031"/>
                  </a:lnTo>
                  <a:close/>
                </a:path>
              </a:pathLst>
            </a:custGeom>
            <a:solidFill>
              <a:srgbClr val="DFECE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06476" cy="1909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10147575">
            <a:off x="13906889" y="-2057400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7" y="0"/>
                </a:lnTo>
                <a:lnTo>
                  <a:pt x="58630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64332" y="0"/>
            <a:ext cx="5423668" cy="1566084"/>
          </a:xfrm>
          <a:custGeom>
            <a:avLst/>
            <a:gdLst/>
            <a:ahLst/>
            <a:cxnLst/>
            <a:rect r="r" b="b" t="t" l="l"/>
            <a:pathLst>
              <a:path h="1566084" w="5423668">
                <a:moveTo>
                  <a:pt x="0" y="0"/>
                </a:moveTo>
                <a:lnTo>
                  <a:pt x="5423668" y="0"/>
                </a:lnTo>
                <a:lnTo>
                  <a:pt x="5423668" y="1566084"/>
                </a:lnTo>
                <a:lnTo>
                  <a:pt x="0" y="15660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90849" y="4209504"/>
            <a:ext cx="8361113" cy="4863096"/>
          </a:xfrm>
          <a:custGeom>
            <a:avLst/>
            <a:gdLst/>
            <a:ahLst/>
            <a:cxnLst/>
            <a:rect r="r" b="b" t="t" l="l"/>
            <a:pathLst>
              <a:path h="4863096" w="8361113">
                <a:moveTo>
                  <a:pt x="0" y="0"/>
                </a:moveTo>
                <a:lnTo>
                  <a:pt x="8361113" y="0"/>
                </a:lnTo>
                <a:lnTo>
                  <a:pt x="8361113" y="4863096"/>
                </a:lnTo>
                <a:lnTo>
                  <a:pt x="0" y="48630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6169" y="3980953"/>
            <a:ext cx="7096618" cy="5320198"/>
          </a:xfrm>
          <a:custGeom>
            <a:avLst/>
            <a:gdLst/>
            <a:ahLst/>
            <a:cxnLst/>
            <a:rect r="r" b="b" t="t" l="l"/>
            <a:pathLst>
              <a:path h="5320198" w="7096618">
                <a:moveTo>
                  <a:pt x="0" y="0"/>
                </a:moveTo>
                <a:lnTo>
                  <a:pt x="7096618" y="0"/>
                </a:lnTo>
                <a:lnTo>
                  <a:pt x="7096618" y="5320198"/>
                </a:lnTo>
                <a:lnTo>
                  <a:pt x="0" y="53201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885825"/>
            <a:ext cx="11058478" cy="251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3D593D"/>
                </a:solidFill>
                <a:latin typeface="Lazydog"/>
                <a:ea typeface="Lazydog"/>
                <a:cs typeface="Lazydog"/>
                <a:sym typeface="Lazydog"/>
              </a:rPr>
              <a:t>¿Qué se debe de saber primero?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945466">
            <a:off x="16127295" y="7514486"/>
            <a:ext cx="2686721" cy="3993775"/>
          </a:xfrm>
          <a:custGeom>
            <a:avLst/>
            <a:gdLst/>
            <a:ahLst/>
            <a:cxnLst/>
            <a:rect r="r" b="b" t="t" l="l"/>
            <a:pathLst>
              <a:path h="3993775" w="2686721">
                <a:moveTo>
                  <a:pt x="0" y="0"/>
                </a:moveTo>
                <a:lnTo>
                  <a:pt x="2686722" y="0"/>
                </a:lnTo>
                <a:lnTo>
                  <a:pt x="2686722" y="3993775"/>
                </a:lnTo>
                <a:lnTo>
                  <a:pt x="0" y="3993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147575">
            <a:off x="-723117" y="8829099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7" y="0"/>
                </a:lnTo>
                <a:lnTo>
                  <a:pt x="58630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35552" y="7028009"/>
            <a:ext cx="7659184" cy="2570021"/>
            <a:chOff x="0" y="0"/>
            <a:chExt cx="2017234" cy="6768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7234" cy="676878"/>
            </a:xfrm>
            <a:custGeom>
              <a:avLst/>
              <a:gdLst/>
              <a:ahLst/>
              <a:cxnLst/>
              <a:rect r="r" b="b" t="t" l="l"/>
              <a:pathLst>
                <a:path h="676878" w="2017234">
                  <a:moveTo>
                    <a:pt x="0" y="0"/>
                  </a:moveTo>
                  <a:lnTo>
                    <a:pt x="2017234" y="0"/>
                  </a:lnTo>
                  <a:lnTo>
                    <a:pt x="2017234" y="676878"/>
                  </a:lnTo>
                  <a:lnTo>
                    <a:pt x="0" y="676878"/>
                  </a:lnTo>
                  <a:close/>
                </a:path>
              </a:pathLst>
            </a:custGeom>
            <a:solidFill>
              <a:srgbClr val="DFECE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17234" cy="714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885825"/>
            <a:ext cx="152686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3D593D"/>
                </a:solidFill>
                <a:latin typeface="Lazydog"/>
                <a:ea typeface="Lazydog"/>
                <a:cs typeface="Lazydog"/>
                <a:sym typeface="Lazydog"/>
              </a:rPr>
              <a:t>Peliculas delgadas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10147575">
            <a:off x="13906889" y="-2057400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7" y="0"/>
                </a:lnTo>
                <a:lnTo>
                  <a:pt x="58630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208978" y="7644134"/>
            <a:ext cx="8088387" cy="195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5" indent="-399412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223022"/>
                </a:solidFill>
                <a:latin typeface="Klein"/>
                <a:ea typeface="Klein"/>
                <a:cs typeface="Klein"/>
                <a:sym typeface="Klein"/>
              </a:rPr>
              <a:t>Dispositivos electrónicos</a:t>
            </a:r>
          </a:p>
          <a:p>
            <a:pPr algn="l" marL="798825" indent="-399412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223022"/>
                </a:solidFill>
                <a:latin typeface="Klein"/>
                <a:ea typeface="Klein"/>
                <a:cs typeface="Klein"/>
                <a:sym typeface="Klein"/>
              </a:rPr>
              <a:t>Dispositivos ópticos</a:t>
            </a:r>
          </a:p>
          <a:p>
            <a:pPr algn="l" marL="798825" indent="-399412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223022"/>
                </a:solidFill>
                <a:latin typeface="Klein"/>
                <a:ea typeface="Klein"/>
                <a:cs typeface="Klein"/>
                <a:sym typeface="Klein"/>
              </a:rPr>
              <a:t> Dispositivos enérgeticos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864332" y="0"/>
            <a:ext cx="5423668" cy="1566084"/>
          </a:xfrm>
          <a:custGeom>
            <a:avLst/>
            <a:gdLst/>
            <a:ahLst/>
            <a:cxnLst/>
            <a:rect r="r" b="b" t="t" l="l"/>
            <a:pathLst>
              <a:path h="1566084" w="5423668">
                <a:moveTo>
                  <a:pt x="0" y="0"/>
                </a:moveTo>
                <a:lnTo>
                  <a:pt x="5423668" y="0"/>
                </a:lnTo>
                <a:lnTo>
                  <a:pt x="5423668" y="1566084"/>
                </a:lnTo>
                <a:lnTo>
                  <a:pt x="0" y="15660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2573479"/>
            <a:ext cx="12837070" cy="4637392"/>
          </a:xfrm>
          <a:custGeom>
            <a:avLst/>
            <a:gdLst/>
            <a:ahLst/>
            <a:cxnLst/>
            <a:rect r="r" b="b" t="t" l="l"/>
            <a:pathLst>
              <a:path h="4637392" w="12837070">
                <a:moveTo>
                  <a:pt x="0" y="0"/>
                </a:moveTo>
                <a:lnTo>
                  <a:pt x="12837070" y="0"/>
                </a:lnTo>
                <a:lnTo>
                  <a:pt x="12837070" y="4637392"/>
                </a:lnTo>
                <a:lnTo>
                  <a:pt x="0" y="46373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945466">
            <a:off x="-314661" y="6721830"/>
            <a:ext cx="2686721" cy="3993775"/>
          </a:xfrm>
          <a:custGeom>
            <a:avLst/>
            <a:gdLst/>
            <a:ahLst/>
            <a:cxnLst/>
            <a:rect r="r" b="b" t="t" l="l"/>
            <a:pathLst>
              <a:path h="3993775" w="2686721">
                <a:moveTo>
                  <a:pt x="0" y="0"/>
                </a:moveTo>
                <a:lnTo>
                  <a:pt x="2686722" y="0"/>
                </a:lnTo>
                <a:lnTo>
                  <a:pt x="2686722" y="3993776"/>
                </a:lnTo>
                <a:lnTo>
                  <a:pt x="0" y="399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2573479"/>
            <a:ext cx="10276151" cy="7104070"/>
            <a:chOff x="0" y="0"/>
            <a:chExt cx="2706476" cy="18710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6476" cy="1871031"/>
            </a:xfrm>
            <a:custGeom>
              <a:avLst/>
              <a:gdLst/>
              <a:ahLst/>
              <a:cxnLst/>
              <a:rect r="r" b="b" t="t" l="l"/>
              <a:pathLst>
                <a:path h="1871031" w="2706476">
                  <a:moveTo>
                    <a:pt x="0" y="0"/>
                  </a:moveTo>
                  <a:lnTo>
                    <a:pt x="2706476" y="0"/>
                  </a:lnTo>
                  <a:lnTo>
                    <a:pt x="2706476" y="1871031"/>
                  </a:lnTo>
                  <a:lnTo>
                    <a:pt x="0" y="1871031"/>
                  </a:lnTo>
                  <a:close/>
                </a:path>
              </a:pathLst>
            </a:custGeom>
            <a:solidFill>
              <a:srgbClr val="DFECE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06476" cy="1909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10147575">
            <a:off x="13906889" y="-2057400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7" y="0"/>
                </a:lnTo>
                <a:lnTo>
                  <a:pt x="58630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64332" y="0"/>
            <a:ext cx="5423668" cy="1566084"/>
          </a:xfrm>
          <a:custGeom>
            <a:avLst/>
            <a:gdLst/>
            <a:ahLst/>
            <a:cxnLst/>
            <a:rect r="r" b="b" t="t" l="l"/>
            <a:pathLst>
              <a:path h="1566084" w="5423668">
                <a:moveTo>
                  <a:pt x="0" y="0"/>
                </a:moveTo>
                <a:lnTo>
                  <a:pt x="5423668" y="0"/>
                </a:lnTo>
                <a:lnTo>
                  <a:pt x="5423668" y="1566084"/>
                </a:lnTo>
                <a:lnTo>
                  <a:pt x="0" y="15660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4751" y="4462667"/>
            <a:ext cx="8579249" cy="4289625"/>
          </a:xfrm>
          <a:custGeom>
            <a:avLst/>
            <a:gdLst/>
            <a:ahLst/>
            <a:cxnLst/>
            <a:rect r="r" b="b" t="t" l="l"/>
            <a:pathLst>
              <a:path h="4289625" w="8579249">
                <a:moveTo>
                  <a:pt x="0" y="0"/>
                </a:moveTo>
                <a:lnTo>
                  <a:pt x="8579249" y="0"/>
                </a:lnTo>
                <a:lnTo>
                  <a:pt x="8579249" y="4289624"/>
                </a:lnTo>
                <a:lnTo>
                  <a:pt x="0" y="42896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651231" y="4529813"/>
            <a:ext cx="7608069" cy="4222478"/>
          </a:xfrm>
          <a:custGeom>
            <a:avLst/>
            <a:gdLst/>
            <a:ahLst/>
            <a:cxnLst/>
            <a:rect r="r" b="b" t="t" l="l"/>
            <a:pathLst>
              <a:path h="4222478" w="7608069">
                <a:moveTo>
                  <a:pt x="0" y="0"/>
                </a:moveTo>
                <a:lnTo>
                  <a:pt x="7608069" y="0"/>
                </a:lnTo>
                <a:lnTo>
                  <a:pt x="7608069" y="4222478"/>
                </a:lnTo>
                <a:lnTo>
                  <a:pt x="0" y="42224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885825"/>
            <a:ext cx="11835632" cy="251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3D593D"/>
                </a:solidFill>
                <a:latin typeface="Lazydog"/>
                <a:ea typeface="Lazydog"/>
                <a:cs typeface="Lazydog"/>
                <a:sym typeface="Lazydog"/>
              </a:rPr>
              <a:t>¿Por qué la optimización bayesiana?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974127">
            <a:off x="-314661" y="-421453"/>
            <a:ext cx="2686721" cy="3993775"/>
          </a:xfrm>
          <a:custGeom>
            <a:avLst/>
            <a:gdLst/>
            <a:ahLst/>
            <a:cxnLst/>
            <a:rect r="r" b="b" t="t" l="l"/>
            <a:pathLst>
              <a:path h="3993775" w="2686721">
                <a:moveTo>
                  <a:pt x="0" y="0"/>
                </a:moveTo>
                <a:lnTo>
                  <a:pt x="2686722" y="0"/>
                </a:lnTo>
                <a:lnTo>
                  <a:pt x="2686722" y="3993776"/>
                </a:lnTo>
                <a:lnTo>
                  <a:pt x="0" y="399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147575">
            <a:off x="14327772" y="7157131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6" y="0"/>
                </a:lnTo>
                <a:lnTo>
                  <a:pt x="5863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669215">
            <a:off x="3598538" y="1249109"/>
            <a:ext cx="10454684" cy="10062633"/>
          </a:xfrm>
          <a:custGeom>
            <a:avLst/>
            <a:gdLst/>
            <a:ahLst/>
            <a:cxnLst/>
            <a:rect r="r" b="b" t="t" l="l"/>
            <a:pathLst>
              <a:path h="10062633" w="10454684">
                <a:moveTo>
                  <a:pt x="0" y="0"/>
                </a:moveTo>
                <a:lnTo>
                  <a:pt x="10454684" y="0"/>
                </a:lnTo>
                <a:lnTo>
                  <a:pt x="10454684" y="10062634"/>
                </a:lnTo>
                <a:lnTo>
                  <a:pt x="0" y="100626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990635" y="3271108"/>
            <a:ext cx="14306731" cy="5015783"/>
            <a:chOff x="0" y="0"/>
            <a:chExt cx="3768028" cy="13210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68028" cy="1321029"/>
            </a:xfrm>
            <a:custGeom>
              <a:avLst/>
              <a:gdLst/>
              <a:ahLst/>
              <a:cxnLst/>
              <a:rect r="r" b="b" t="t" l="l"/>
              <a:pathLst>
                <a:path h="1321029" w="3768028">
                  <a:moveTo>
                    <a:pt x="0" y="0"/>
                  </a:moveTo>
                  <a:lnTo>
                    <a:pt x="3768028" y="0"/>
                  </a:lnTo>
                  <a:lnTo>
                    <a:pt x="3768028" y="1321029"/>
                  </a:lnTo>
                  <a:lnTo>
                    <a:pt x="0" y="1321029"/>
                  </a:lnTo>
                  <a:close/>
                </a:path>
              </a:pathLst>
            </a:custGeom>
            <a:solidFill>
              <a:srgbClr val="DFECE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768028" cy="13591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885825"/>
            <a:ext cx="152686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>
                <a:solidFill>
                  <a:srgbClr val="3D593D"/>
                </a:solidFill>
                <a:latin typeface="Lazydog"/>
                <a:ea typeface="Lazydog"/>
                <a:cs typeface="Lazydog"/>
                <a:sym typeface="Lazydog"/>
              </a:rPr>
              <a:t>Función costo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864332" y="0"/>
            <a:ext cx="5423668" cy="1566084"/>
          </a:xfrm>
          <a:custGeom>
            <a:avLst/>
            <a:gdLst/>
            <a:ahLst/>
            <a:cxnLst/>
            <a:rect r="r" b="b" t="t" l="l"/>
            <a:pathLst>
              <a:path h="1566084" w="5423668">
                <a:moveTo>
                  <a:pt x="0" y="0"/>
                </a:moveTo>
                <a:lnTo>
                  <a:pt x="5423668" y="0"/>
                </a:lnTo>
                <a:lnTo>
                  <a:pt x="5423668" y="1566084"/>
                </a:lnTo>
                <a:lnTo>
                  <a:pt x="0" y="15660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893610" y="3404950"/>
            <a:ext cx="10500780" cy="4881942"/>
          </a:xfrm>
          <a:custGeom>
            <a:avLst/>
            <a:gdLst/>
            <a:ahLst/>
            <a:cxnLst/>
            <a:rect r="r" b="b" t="t" l="l"/>
            <a:pathLst>
              <a:path h="4881942" w="10500780">
                <a:moveTo>
                  <a:pt x="0" y="0"/>
                </a:moveTo>
                <a:lnTo>
                  <a:pt x="10500780" y="0"/>
                </a:lnTo>
                <a:lnTo>
                  <a:pt x="10500780" y="4881941"/>
                </a:lnTo>
                <a:lnTo>
                  <a:pt x="0" y="48819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269215">
            <a:off x="15440127" y="-942958"/>
            <a:ext cx="2686721" cy="3993775"/>
          </a:xfrm>
          <a:custGeom>
            <a:avLst/>
            <a:gdLst/>
            <a:ahLst/>
            <a:cxnLst/>
            <a:rect r="r" b="b" t="t" l="l"/>
            <a:pathLst>
              <a:path h="3993775" w="2686721">
                <a:moveTo>
                  <a:pt x="0" y="0"/>
                </a:moveTo>
                <a:lnTo>
                  <a:pt x="2686722" y="0"/>
                </a:lnTo>
                <a:lnTo>
                  <a:pt x="2686722" y="3993776"/>
                </a:lnTo>
                <a:lnTo>
                  <a:pt x="0" y="399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313144">
            <a:off x="-1465275" y="8376753"/>
            <a:ext cx="4987950" cy="3500634"/>
          </a:xfrm>
          <a:custGeom>
            <a:avLst/>
            <a:gdLst/>
            <a:ahLst/>
            <a:cxnLst/>
            <a:rect r="r" b="b" t="t" l="l"/>
            <a:pathLst>
              <a:path h="3500634" w="4987950">
                <a:moveTo>
                  <a:pt x="0" y="0"/>
                </a:moveTo>
                <a:lnTo>
                  <a:pt x="4987950" y="0"/>
                </a:lnTo>
                <a:lnTo>
                  <a:pt x="4987950" y="3500634"/>
                </a:lnTo>
                <a:lnTo>
                  <a:pt x="0" y="35006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85825"/>
            <a:ext cx="152686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>
                <a:solidFill>
                  <a:srgbClr val="3D593D"/>
                </a:solidFill>
                <a:latin typeface="Lazydog"/>
                <a:ea typeface="Lazydog"/>
                <a:cs typeface="Lazydog"/>
                <a:sym typeface="Lazydog"/>
              </a:rPr>
              <a:t>Resultados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864332" y="0"/>
            <a:ext cx="5423668" cy="1566084"/>
          </a:xfrm>
          <a:custGeom>
            <a:avLst/>
            <a:gdLst/>
            <a:ahLst/>
            <a:cxnLst/>
            <a:rect r="r" b="b" t="t" l="l"/>
            <a:pathLst>
              <a:path h="1566084" w="5423668">
                <a:moveTo>
                  <a:pt x="0" y="0"/>
                </a:moveTo>
                <a:lnTo>
                  <a:pt x="5423668" y="0"/>
                </a:lnTo>
                <a:lnTo>
                  <a:pt x="5423668" y="1566084"/>
                </a:lnTo>
                <a:lnTo>
                  <a:pt x="0" y="15660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4701" y="2382457"/>
            <a:ext cx="6682423" cy="5838767"/>
          </a:xfrm>
          <a:custGeom>
            <a:avLst/>
            <a:gdLst/>
            <a:ahLst/>
            <a:cxnLst/>
            <a:rect r="r" b="b" t="t" l="l"/>
            <a:pathLst>
              <a:path h="5838767" w="6682423">
                <a:moveTo>
                  <a:pt x="0" y="0"/>
                </a:moveTo>
                <a:lnTo>
                  <a:pt x="6682423" y="0"/>
                </a:lnTo>
                <a:lnTo>
                  <a:pt x="6682423" y="5838767"/>
                </a:lnTo>
                <a:lnTo>
                  <a:pt x="0" y="58387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33281" y="2636588"/>
            <a:ext cx="7031520" cy="5330505"/>
          </a:xfrm>
          <a:custGeom>
            <a:avLst/>
            <a:gdLst/>
            <a:ahLst/>
            <a:cxnLst/>
            <a:rect r="r" b="b" t="t" l="l"/>
            <a:pathLst>
              <a:path h="5330505" w="7031520">
                <a:moveTo>
                  <a:pt x="0" y="0"/>
                </a:moveTo>
                <a:lnTo>
                  <a:pt x="7031521" y="0"/>
                </a:lnTo>
                <a:lnTo>
                  <a:pt x="7031521" y="5330505"/>
                </a:lnTo>
                <a:lnTo>
                  <a:pt x="0" y="53305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68343" y="8573493"/>
            <a:ext cx="10365272" cy="1553577"/>
          </a:xfrm>
          <a:custGeom>
            <a:avLst/>
            <a:gdLst/>
            <a:ahLst/>
            <a:cxnLst/>
            <a:rect r="r" b="b" t="t" l="l"/>
            <a:pathLst>
              <a:path h="1553577" w="10365272">
                <a:moveTo>
                  <a:pt x="0" y="0"/>
                </a:moveTo>
                <a:lnTo>
                  <a:pt x="10365272" y="0"/>
                </a:lnTo>
                <a:lnTo>
                  <a:pt x="10365272" y="1553577"/>
                </a:lnTo>
                <a:lnTo>
                  <a:pt x="0" y="15535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269215">
            <a:off x="15440127" y="-942958"/>
            <a:ext cx="2686721" cy="3993775"/>
          </a:xfrm>
          <a:custGeom>
            <a:avLst/>
            <a:gdLst/>
            <a:ahLst/>
            <a:cxnLst/>
            <a:rect r="r" b="b" t="t" l="l"/>
            <a:pathLst>
              <a:path h="3993775" w="2686721">
                <a:moveTo>
                  <a:pt x="0" y="0"/>
                </a:moveTo>
                <a:lnTo>
                  <a:pt x="2686722" y="0"/>
                </a:lnTo>
                <a:lnTo>
                  <a:pt x="2686722" y="3993776"/>
                </a:lnTo>
                <a:lnTo>
                  <a:pt x="0" y="399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313144">
            <a:off x="-1465275" y="8376753"/>
            <a:ext cx="4987950" cy="3500634"/>
          </a:xfrm>
          <a:custGeom>
            <a:avLst/>
            <a:gdLst/>
            <a:ahLst/>
            <a:cxnLst/>
            <a:rect r="r" b="b" t="t" l="l"/>
            <a:pathLst>
              <a:path h="3500634" w="4987950">
                <a:moveTo>
                  <a:pt x="0" y="0"/>
                </a:moveTo>
                <a:lnTo>
                  <a:pt x="4987950" y="0"/>
                </a:lnTo>
                <a:lnTo>
                  <a:pt x="4987950" y="3500634"/>
                </a:lnTo>
                <a:lnTo>
                  <a:pt x="0" y="35006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85825"/>
            <a:ext cx="152686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>
                <a:solidFill>
                  <a:srgbClr val="3D593D"/>
                </a:solidFill>
                <a:latin typeface="Lazydog"/>
                <a:ea typeface="Lazydog"/>
                <a:cs typeface="Lazydog"/>
                <a:sym typeface="Lazydog"/>
              </a:rPr>
              <a:t>Prueba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864332" y="0"/>
            <a:ext cx="5423668" cy="1566084"/>
          </a:xfrm>
          <a:custGeom>
            <a:avLst/>
            <a:gdLst/>
            <a:ahLst/>
            <a:cxnLst/>
            <a:rect r="r" b="b" t="t" l="l"/>
            <a:pathLst>
              <a:path h="1566084" w="5423668">
                <a:moveTo>
                  <a:pt x="0" y="0"/>
                </a:moveTo>
                <a:lnTo>
                  <a:pt x="5423668" y="0"/>
                </a:lnTo>
                <a:lnTo>
                  <a:pt x="5423668" y="1566084"/>
                </a:lnTo>
                <a:lnTo>
                  <a:pt x="0" y="15660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79811" y="2970330"/>
            <a:ext cx="6783222" cy="6240564"/>
          </a:xfrm>
          <a:custGeom>
            <a:avLst/>
            <a:gdLst/>
            <a:ahLst/>
            <a:cxnLst/>
            <a:rect r="r" b="b" t="t" l="l"/>
            <a:pathLst>
              <a:path h="6240564" w="6783222">
                <a:moveTo>
                  <a:pt x="0" y="0"/>
                </a:moveTo>
                <a:lnTo>
                  <a:pt x="6783222" y="0"/>
                </a:lnTo>
                <a:lnTo>
                  <a:pt x="6783222" y="6240564"/>
                </a:lnTo>
                <a:lnTo>
                  <a:pt x="0" y="62405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08851" y="3104225"/>
            <a:ext cx="7950449" cy="5972775"/>
          </a:xfrm>
          <a:custGeom>
            <a:avLst/>
            <a:gdLst/>
            <a:ahLst/>
            <a:cxnLst/>
            <a:rect r="r" b="b" t="t" l="l"/>
            <a:pathLst>
              <a:path h="5972775" w="7950449">
                <a:moveTo>
                  <a:pt x="0" y="0"/>
                </a:moveTo>
                <a:lnTo>
                  <a:pt x="7950449" y="0"/>
                </a:lnTo>
                <a:lnTo>
                  <a:pt x="7950449" y="5972774"/>
                </a:lnTo>
                <a:lnTo>
                  <a:pt x="0" y="59727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8722272">
            <a:off x="15493190" y="-645632"/>
            <a:ext cx="3532220" cy="5250597"/>
          </a:xfrm>
          <a:custGeom>
            <a:avLst/>
            <a:gdLst/>
            <a:ahLst/>
            <a:cxnLst/>
            <a:rect r="r" b="b" t="t" l="l"/>
            <a:pathLst>
              <a:path h="5250597" w="3532220">
                <a:moveTo>
                  <a:pt x="3532220" y="0"/>
                </a:moveTo>
                <a:lnTo>
                  <a:pt x="0" y="0"/>
                </a:lnTo>
                <a:lnTo>
                  <a:pt x="0" y="5250596"/>
                </a:lnTo>
                <a:lnTo>
                  <a:pt x="3532220" y="5250596"/>
                </a:lnTo>
                <a:lnTo>
                  <a:pt x="353222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550780" y="8562451"/>
            <a:ext cx="3056701" cy="5125565"/>
          </a:xfrm>
          <a:custGeom>
            <a:avLst/>
            <a:gdLst/>
            <a:ahLst/>
            <a:cxnLst/>
            <a:rect r="r" b="b" t="t" l="l"/>
            <a:pathLst>
              <a:path h="5125565" w="3056701">
                <a:moveTo>
                  <a:pt x="3056701" y="0"/>
                </a:moveTo>
                <a:lnTo>
                  <a:pt x="0" y="0"/>
                </a:lnTo>
                <a:lnTo>
                  <a:pt x="0" y="5125565"/>
                </a:lnTo>
                <a:lnTo>
                  <a:pt x="3056701" y="5125565"/>
                </a:lnTo>
                <a:lnTo>
                  <a:pt x="305670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669215">
            <a:off x="187582" y="469598"/>
            <a:ext cx="10454684" cy="10062633"/>
          </a:xfrm>
          <a:custGeom>
            <a:avLst/>
            <a:gdLst/>
            <a:ahLst/>
            <a:cxnLst/>
            <a:rect r="r" b="b" t="t" l="l"/>
            <a:pathLst>
              <a:path h="10062633" w="10454684">
                <a:moveTo>
                  <a:pt x="0" y="0"/>
                </a:moveTo>
                <a:lnTo>
                  <a:pt x="10454684" y="0"/>
                </a:lnTo>
                <a:lnTo>
                  <a:pt x="10454684" y="10062633"/>
                </a:lnTo>
                <a:lnTo>
                  <a:pt x="0" y="100626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85825"/>
            <a:ext cx="152686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3D593D"/>
                </a:solidFill>
                <a:latin typeface="Lazydog"/>
                <a:ea typeface="Lazydog"/>
                <a:cs typeface="Lazydog"/>
                <a:sym typeface="Lazydog"/>
              </a:rPr>
              <a:t>Puntos Importantes: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69802"/>
            <a:ext cx="14132663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223022"/>
                </a:solidFill>
                <a:latin typeface="Klein"/>
                <a:ea typeface="Klein"/>
                <a:cs typeface="Klein"/>
                <a:sym typeface="Klein"/>
              </a:rPr>
              <a:t>Parámetros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445690"/>
            <a:ext cx="14132663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223022"/>
                </a:solidFill>
                <a:latin typeface="Klein"/>
                <a:ea typeface="Klein"/>
                <a:cs typeface="Klein"/>
                <a:sym typeface="Klein"/>
              </a:rPr>
              <a:t>Variables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5821638" y="3987441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5863057" y="0"/>
                </a:moveTo>
                <a:lnTo>
                  <a:pt x="0" y="0"/>
                </a:lnTo>
                <a:lnTo>
                  <a:pt x="0" y="4114800"/>
                </a:lnTo>
                <a:lnTo>
                  <a:pt x="5863057" y="4114800"/>
                </a:lnTo>
                <a:lnTo>
                  <a:pt x="586305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6221578"/>
            <a:ext cx="14132663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223022"/>
                </a:solidFill>
                <a:latin typeface="Klein"/>
                <a:ea typeface="Klein"/>
                <a:cs typeface="Klein"/>
                <a:sym typeface="Klein"/>
              </a:rPr>
              <a:t>Iteraciones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997466"/>
            <a:ext cx="14132663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223022"/>
                </a:solidFill>
                <a:latin typeface="Klein"/>
                <a:ea typeface="Klein"/>
                <a:cs typeface="Klein"/>
                <a:sym typeface="Klein"/>
              </a:rPr>
              <a:t>Material a depositar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864332" y="0"/>
            <a:ext cx="5423668" cy="1566084"/>
          </a:xfrm>
          <a:custGeom>
            <a:avLst/>
            <a:gdLst/>
            <a:ahLst/>
            <a:cxnLst/>
            <a:rect r="r" b="b" t="t" l="l"/>
            <a:pathLst>
              <a:path h="1566084" w="5423668">
                <a:moveTo>
                  <a:pt x="0" y="0"/>
                </a:moveTo>
                <a:lnTo>
                  <a:pt x="5423668" y="0"/>
                </a:lnTo>
                <a:lnTo>
                  <a:pt x="5423668" y="1566084"/>
                </a:lnTo>
                <a:lnTo>
                  <a:pt x="0" y="15660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303486">
            <a:off x="3480939" y="829730"/>
            <a:ext cx="11326122" cy="10901393"/>
          </a:xfrm>
          <a:custGeom>
            <a:avLst/>
            <a:gdLst/>
            <a:ahLst/>
            <a:cxnLst/>
            <a:rect r="r" b="b" t="t" l="l"/>
            <a:pathLst>
              <a:path h="10901393" w="11326122">
                <a:moveTo>
                  <a:pt x="0" y="0"/>
                </a:moveTo>
                <a:lnTo>
                  <a:pt x="11326122" y="0"/>
                </a:lnTo>
                <a:lnTo>
                  <a:pt x="11326122" y="10901392"/>
                </a:lnTo>
                <a:lnTo>
                  <a:pt x="0" y="10901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90635" y="3702935"/>
            <a:ext cx="14306731" cy="5015783"/>
            <a:chOff x="0" y="0"/>
            <a:chExt cx="3768028" cy="1321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68028" cy="1321029"/>
            </a:xfrm>
            <a:custGeom>
              <a:avLst/>
              <a:gdLst/>
              <a:ahLst/>
              <a:cxnLst/>
              <a:rect r="r" b="b" t="t" l="l"/>
              <a:pathLst>
                <a:path h="1321029" w="3768028">
                  <a:moveTo>
                    <a:pt x="0" y="0"/>
                  </a:moveTo>
                  <a:lnTo>
                    <a:pt x="3768028" y="0"/>
                  </a:lnTo>
                  <a:lnTo>
                    <a:pt x="3768028" y="1321029"/>
                  </a:lnTo>
                  <a:lnTo>
                    <a:pt x="0" y="1321029"/>
                  </a:lnTo>
                  <a:close/>
                </a:path>
              </a:pathLst>
            </a:custGeom>
            <a:solidFill>
              <a:srgbClr val="86B69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768028" cy="13591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08788" y="4953000"/>
            <a:ext cx="15268665" cy="1651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599">
                <a:solidFill>
                  <a:srgbClr val="3D593D"/>
                </a:solidFill>
                <a:latin typeface="Lazydog"/>
                <a:ea typeface="Lazydog"/>
                <a:cs typeface="Lazydog"/>
                <a:sym typeface="Lazydog"/>
              </a:rPr>
              <a:t>Conclusiones: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864332" y="0"/>
            <a:ext cx="5423668" cy="1566084"/>
          </a:xfrm>
          <a:custGeom>
            <a:avLst/>
            <a:gdLst/>
            <a:ahLst/>
            <a:cxnLst/>
            <a:rect r="r" b="b" t="t" l="l"/>
            <a:pathLst>
              <a:path h="1566084" w="5423668">
                <a:moveTo>
                  <a:pt x="0" y="0"/>
                </a:moveTo>
                <a:lnTo>
                  <a:pt x="5423668" y="0"/>
                </a:lnTo>
                <a:lnTo>
                  <a:pt x="5423668" y="1566084"/>
                </a:lnTo>
                <a:lnTo>
                  <a:pt x="0" y="15660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731" t="-92424" r="0" b="-97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85825"/>
            <a:ext cx="152686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3D593D"/>
                </a:solidFill>
                <a:latin typeface="Lazydog"/>
                <a:ea typeface="Lazydog"/>
                <a:cs typeface="Lazydog"/>
                <a:sym typeface="Lazydog"/>
              </a:rPr>
              <a:t>Referencias: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98377"/>
            <a:ext cx="12333070" cy="705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4508" indent="-177254" lvl="1">
              <a:lnSpc>
                <a:spcPts val="3497"/>
              </a:lnSpc>
              <a:buFont typeface="Arial"/>
              <a:buChar char="•"/>
            </a:pPr>
            <a:r>
              <a:rPr lang="en-US" sz="1642">
                <a:solidFill>
                  <a:srgbClr val="223022"/>
                </a:solidFill>
                <a:latin typeface="Klein"/>
                <a:ea typeface="Klein"/>
                <a:cs typeface="Klein"/>
                <a:sym typeface="Klein"/>
              </a:rPr>
              <a:t>Mulato, D. (2024). Analisis estadisticos y técnicas experimentales [18]. Instituto Tecnológico y de Estudios Superiores de Occidente (ITESO), Tlaquepaque, Jalisco, México.</a:t>
            </a:r>
          </a:p>
          <a:p>
            <a:pPr algn="l" marL="354508" indent="-177254" lvl="1">
              <a:lnSpc>
                <a:spcPts val="3497"/>
              </a:lnSpc>
              <a:buFont typeface="Arial"/>
              <a:buChar char="•"/>
            </a:pPr>
            <a:r>
              <a:rPr lang="en-US" sz="1642">
                <a:solidFill>
                  <a:srgbClr val="223022"/>
                </a:solidFill>
                <a:latin typeface="Klein"/>
                <a:ea typeface="Klein"/>
                <a:cs typeface="Klein"/>
                <a:sym typeface="Klein"/>
              </a:rPr>
              <a:t>Pérez, S. (2024). Síntesis y caracterización de nanomateriales III [24]. Instituto Tecnológico y de Estudios Superiores de Occidente (ITESO), Tlaquepaque, Jalisco, México.</a:t>
            </a:r>
          </a:p>
          <a:p>
            <a:pPr algn="l" marL="354508" indent="-177254" lvl="1">
              <a:lnSpc>
                <a:spcPts val="3497"/>
              </a:lnSpc>
              <a:buFont typeface="Arial"/>
              <a:buChar char="•"/>
            </a:pPr>
            <a:r>
              <a:rPr lang="en-US" sz="1642">
                <a:solidFill>
                  <a:srgbClr val="223022"/>
                </a:solidFill>
                <a:latin typeface="Klein"/>
                <a:ea typeface="Klein"/>
                <a:cs typeface="Klein"/>
                <a:sym typeface="Klein"/>
              </a:rPr>
              <a:t>Fébba, D. M., Talley, K. R., Johnson, K., Schaefer, S., Bauers, S. R., Mangum, J. S., Smaha, R. W., &amp; Zakutayev, A. (2023). Autonomous sputter synthesis of thin film nitrides with composition controlled by Bayesian optimization of optical plasma emission. APL Materials, 11(7). https://doi.org/10.1063/5.0159406</a:t>
            </a:r>
          </a:p>
          <a:p>
            <a:pPr algn="l" marL="354508" indent="-177254" lvl="1">
              <a:lnSpc>
                <a:spcPts val="3497"/>
              </a:lnSpc>
              <a:buFont typeface="Arial"/>
              <a:buChar char="•"/>
            </a:pPr>
            <a:r>
              <a:rPr lang="en-US" sz="1642">
                <a:solidFill>
                  <a:srgbClr val="223022"/>
                </a:solidFill>
                <a:latin typeface="Klein"/>
                <a:ea typeface="Klein"/>
                <a:cs typeface="Klein"/>
                <a:sym typeface="Klein"/>
              </a:rPr>
              <a:t>Shahriari, B., Swersky, K., Wang, Z., Adams, R. P., &amp; De Freitas, N. (2016). Taking the Human Out of the Loop: A Review of Bayesian Optimization. Proceedings of the IEEE, 104(1), 148-175. https://doi.org/10.1109/JPROC.2015.2494218</a:t>
            </a:r>
          </a:p>
          <a:p>
            <a:pPr algn="l" marL="354508" indent="-177254" lvl="1">
              <a:lnSpc>
                <a:spcPts val="3497"/>
              </a:lnSpc>
              <a:buFont typeface="Arial"/>
              <a:buChar char="•"/>
            </a:pPr>
            <a:r>
              <a:rPr lang="en-US" sz="1642">
                <a:solidFill>
                  <a:srgbClr val="223022"/>
                </a:solidFill>
                <a:latin typeface="Klein"/>
                <a:ea typeface="Klein"/>
                <a:cs typeface="Klein"/>
                <a:sym typeface="Klein"/>
              </a:rPr>
              <a:t>Frazier, P. I. (2018). A Tutorial on Bayesian Optimization. https://arxiv.org/abs/1807.02811</a:t>
            </a:r>
          </a:p>
          <a:p>
            <a:pPr algn="l" marL="354508" indent="-177254" lvl="1">
              <a:lnSpc>
                <a:spcPts val="3497"/>
              </a:lnSpc>
              <a:buFont typeface="Arial"/>
              <a:buChar char="•"/>
            </a:pPr>
            <a:r>
              <a:rPr lang="en-US" sz="1642">
                <a:solidFill>
                  <a:srgbClr val="223022"/>
                </a:solidFill>
                <a:latin typeface="Klein"/>
                <a:ea typeface="Klein"/>
                <a:cs typeface="Klein"/>
                <a:sym typeface="Klein"/>
              </a:rPr>
              <a:t>Smith, D. L. (1995). Thin-film deposition: principles and practice. McGraw-Hill.</a:t>
            </a:r>
          </a:p>
          <a:p>
            <a:pPr algn="l" marL="354508" indent="-177254" lvl="1">
              <a:lnSpc>
                <a:spcPts val="3497"/>
              </a:lnSpc>
              <a:buFont typeface="Arial"/>
              <a:buChar char="•"/>
            </a:pPr>
            <a:r>
              <a:rPr lang="en-US" sz="1642">
                <a:solidFill>
                  <a:srgbClr val="223022"/>
                </a:solidFill>
                <a:latin typeface="Klein"/>
                <a:ea typeface="Klein"/>
                <a:cs typeface="Klein"/>
                <a:sym typeface="Klein"/>
              </a:rPr>
              <a:t>Ohring, M. (2002). Materials Science of Thin Films (2nd ed.). Academic Press.</a:t>
            </a:r>
          </a:p>
          <a:p>
            <a:pPr algn="l" marL="354508" indent="-177254" lvl="1">
              <a:lnSpc>
                <a:spcPts val="3497"/>
              </a:lnSpc>
              <a:buFont typeface="Arial"/>
              <a:buChar char="•"/>
            </a:pPr>
            <a:r>
              <a:rPr lang="en-US" sz="1642">
                <a:solidFill>
                  <a:srgbClr val="223022"/>
                </a:solidFill>
                <a:latin typeface="Klein"/>
                <a:ea typeface="Klein"/>
                <a:cs typeface="Klein"/>
                <a:sym typeface="Klein"/>
              </a:rPr>
              <a:t> Brochu, E., Cora, V. M., &amp; De Freitas, N. (2010). A Tutorial on Bayesian Optimization of Expensive Cost Functions, with Application to Active User Modeling and Hierarchical Reinforcement Learning. https://arxiv.org/abs/1012.2599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864332" y="0"/>
            <a:ext cx="5423668" cy="1566084"/>
          </a:xfrm>
          <a:custGeom>
            <a:avLst/>
            <a:gdLst/>
            <a:ahLst/>
            <a:cxnLst/>
            <a:rect r="r" b="b" t="t" l="l"/>
            <a:pathLst>
              <a:path h="1566084" w="5423668">
                <a:moveTo>
                  <a:pt x="0" y="0"/>
                </a:moveTo>
                <a:lnTo>
                  <a:pt x="5423668" y="0"/>
                </a:lnTo>
                <a:lnTo>
                  <a:pt x="5423668" y="1566084"/>
                </a:lnTo>
                <a:lnTo>
                  <a:pt x="0" y="1566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39423" y="-1598406"/>
            <a:ext cx="14009155" cy="13483811"/>
          </a:xfrm>
          <a:custGeom>
            <a:avLst/>
            <a:gdLst/>
            <a:ahLst/>
            <a:cxnLst/>
            <a:rect r="r" b="b" t="t" l="l"/>
            <a:pathLst>
              <a:path h="13483811" w="14009155">
                <a:moveTo>
                  <a:pt x="0" y="0"/>
                </a:moveTo>
                <a:lnTo>
                  <a:pt x="14009154" y="0"/>
                </a:lnTo>
                <a:lnTo>
                  <a:pt x="14009154" y="13483812"/>
                </a:lnTo>
                <a:lnTo>
                  <a:pt x="0" y="13483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27828" y="7346882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7" y="0"/>
                </a:lnTo>
                <a:lnTo>
                  <a:pt x="58630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24530">
            <a:off x="-1050153" y="-907951"/>
            <a:ext cx="3532220" cy="5250597"/>
          </a:xfrm>
          <a:custGeom>
            <a:avLst/>
            <a:gdLst/>
            <a:ahLst/>
            <a:cxnLst/>
            <a:rect r="r" b="b" t="t" l="l"/>
            <a:pathLst>
              <a:path h="5250597" w="3532220">
                <a:moveTo>
                  <a:pt x="0" y="0"/>
                </a:moveTo>
                <a:lnTo>
                  <a:pt x="3532220" y="0"/>
                </a:lnTo>
                <a:lnTo>
                  <a:pt x="3532220" y="5250596"/>
                </a:lnTo>
                <a:lnTo>
                  <a:pt x="0" y="52505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8259" y="7770606"/>
            <a:ext cx="2453917" cy="4114800"/>
          </a:xfrm>
          <a:custGeom>
            <a:avLst/>
            <a:gdLst/>
            <a:ahLst/>
            <a:cxnLst/>
            <a:rect r="r" b="b" t="t" l="l"/>
            <a:pathLst>
              <a:path h="4114800" w="2453917">
                <a:moveTo>
                  <a:pt x="0" y="0"/>
                </a:moveTo>
                <a:lnTo>
                  <a:pt x="2453918" y="0"/>
                </a:lnTo>
                <a:lnTo>
                  <a:pt x="24539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09667" y="3452759"/>
            <a:ext cx="15268665" cy="3085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18"/>
              </a:lnSpc>
            </a:pPr>
            <a:r>
              <a:rPr lang="en-US" sz="10635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Gracias</a:t>
            </a:r>
          </a:p>
          <a:p>
            <a:pPr algn="ctr">
              <a:lnSpc>
                <a:spcPts val="12018"/>
              </a:lnSpc>
            </a:pPr>
            <a:r>
              <a:rPr lang="en-US" sz="10635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por su atención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864332" y="0"/>
            <a:ext cx="5423668" cy="1566084"/>
          </a:xfrm>
          <a:custGeom>
            <a:avLst/>
            <a:gdLst/>
            <a:ahLst/>
            <a:cxnLst/>
            <a:rect r="r" b="b" t="t" l="l"/>
            <a:pathLst>
              <a:path h="1566084" w="5423668">
                <a:moveTo>
                  <a:pt x="0" y="0"/>
                </a:moveTo>
                <a:lnTo>
                  <a:pt x="5423668" y="0"/>
                </a:lnTo>
                <a:lnTo>
                  <a:pt x="5423668" y="1566084"/>
                </a:lnTo>
                <a:lnTo>
                  <a:pt x="0" y="15660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DAGX-7RpqSk</dc:identifier>
  <dcterms:modified xsi:type="dcterms:W3CDTF">2011-08-01T06:04:30Z</dcterms:modified>
  <cp:revision>1</cp:revision>
  <dc:title>P03.- Presentación</dc:title>
</cp:coreProperties>
</file>